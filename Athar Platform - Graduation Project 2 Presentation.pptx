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353050"/>
            <a:ext cx="10820400" cy="971550"/>
          </a:xfrm>
          <a:prstGeom prst="roundRect">
            <a:avLst>
              <a:gd name="adj" fmla="val 11764"/>
            </a:avLst>
          </a:prstGeom>
          <a:solidFill>
            <a:srgbClr val="13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4157662"/>
            <a:ext cx="762000" cy="476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405062"/>
            <a:ext cx="3738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Lato"/>
              </a:rPr>
              <a:t>Smart Humanitarian Aid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7962"/>
            <a:ext cx="6913364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8FAFC"/>
                </a:solidFill>
                <a:latin typeface="Lato"/>
              </a:rPr>
              <a:t>Athar Platform &amp;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76637"/>
            <a:ext cx="8643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Lato"/>
              </a:rPr>
              <a:t>AI-Driven Relief Governance with Smart NFC Cards &amp; Interactive 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3400"/>
            <a:ext cx="66794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Lato"/>
              </a:rPr>
              <a:t>Syrian Arab Republic — Syrian Private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38200"/>
            <a:ext cx="6679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Lato"/>
              </a:rPr>
              <a:t>Faculty of Informatics Engineering — Software Engineering &amp; Information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5581650"/>
            <a:ext cx="6774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Lato"/>
              </a:rPr>
              <a:t>Prepared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5838825"/>
            <a:ext cx="67746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Lato"/>
              </a:rPr>
              <a:t>Khalil Tarek Al-Hanafi &amp; Ibrahim Mohammad Wasim Lotfi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5450" y="5581650"/>
            <a:ext cx="2357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Lato"/>
              </a:rPr>
              <a:t>Supervised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5450" y="5838825"/>
            <a:ext cx="235743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DD4BF"/>
                </a:solidFill>
                <a:latin typeface="Lato"/>
              </a:rPr>
              <a:t>Dr. Kadan Al-Jumaa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95537"/>
            <a:ext cx="4000500" cy="2990850"/>
          </a:xfrm>
          <a:prstGeom prst="roundRect">
            <a:avLst>
              <a:gd name="adj" fmla="val 5095"/>
            </a:avLst>
          </a:prstGeom>
          <a:solidFill>
            <a:srgbClr val="0F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67300" y="2324100"/>
            <a:ext cx="651510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67300" y="3438525"/>
            <a:ext cx="651510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67300" y="4552950"/>
            <a:ext cx="651510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26241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373856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4852987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1: Project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Transforming Relief into Smart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776537"/>
            <a:ext cx="41433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D4BF"/>
                </a:solidFill>
                <a:latin typeface="Lato"/>
              </a:rPr>
              <a:t>User Survey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100387"/>
            <a:ext cx="4143375" cy="962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300" b="1" i="0" u="none">
                <a:solidFill>
                  <a:srgbClr val="F59E0B"/>
                </a:solidFill>
                <a:latin typeface="Lato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176712"/>
            <a:ext cx="41433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Lato"/>
              </a:rPr>
              <a:t>Distrust Unverified Aid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586287"/>
            <a:ext cx="34099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Lato"/>
              </a:rPr>
              <a:t>Athar replaces chaotic social media groups with verified digital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514600"/>
            <a:ext cx="512564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Centralized Aid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828925"/>
            <a:ext cx="4881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Unified relief cases classified by governorate urgency.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0" y="3629025"/>
            <a:ext cx="458807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Anti-Fraud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3943350"/>
            <a:ext cx="43695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Fair distribution via NFC cards plus AI auditing.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3100" y="4743450"/>
            <a:ext cx="55131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Rapid Field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3100" y="5057775"/>
            <a:ext cx="525065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Direct coordination between NGOs plus field volunteers.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4820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9825"/>
            <a:ext cx="25717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2409825"/>
            <a:ext cx="25717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409825"/>
            <a:ext cx="25717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2409825"/>
            <a:ext cx="25717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0" y="487680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724150"/>
            <a:ext cx="25717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2724150"/>
            <a:ext cx="4286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72415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775" y="2724150"/>
            <a:ext cx="390525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2: Previously Executed Phases (Project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Analytical &amp; Core System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5850"/>
            <a:ext cx="8251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26"/>
                </a:solidFill>
                <a:latin typeface="Lato"/>
              </a:rPr>
              <a:t>Project 1 Deliverable: UML modeling plus initial Flutter authentication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219450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Field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571875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Expert interviews plus youth surveys.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075" y="3219450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Role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571875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Four distinct user permission levels.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219450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Core Case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571875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Verified case publishing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219450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Regional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571875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Case filtering across Syrian governorates.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309812"/>
          <a:ext cx="10972797" cy="3124200"/>
        </p:xfrm>
        <a:graphic>
          <a:graphicData uri="http://schemas.openxmlformats.org/drawingml/2006/table">
            <a:tbl>
              <a:tblPr/>
              <a:tblGrid>
                <a:gridCol w="1815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Lato"/>
                        </a:rPr>
                        <a:t>Comparison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Lato"/>
                        </a:rPr>
                        <a:t>Athar Platform (v2)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Lato"/>
                        </a:rPr>
                        <a:t>Ehsan App (KSA)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Lato"/>
                        </a:rPr>
                        <a:t>ShareTheMeal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Lato"/>
                        </a:rPr>
                        <a:t>Social Groups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Lato"/>
                        </a:rPr>
                        <a:t>User Roles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766E"/>
                          </a:solidFill>
                          <a:latin typeface="Lato"/>
                        </a:rPr>
                        <a:t>Donor, NGO, Volunteer,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Donor &amp; charity portals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Financial donor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Unstructured public posts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Lato"/>
                        </a:rPr>
                        <a:t>Fraud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766E"/>
                          </a:solidFill>
                          <a:latin typeface="Lato"/>
                        </a:rPr>
                        <a:t>Image hash plus AI audit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Gov API 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Central UN campaigns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B91C1C"/>
                          </a:solidFill>
                          <a:latin typeface="Lato"/>
                        </a:rPr>
                        <a:t>High fake case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Lato"/>
                        </a:rPr>
                        <a:t>Field Delivery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766E"/>
                          </a:solidFill>
                          <a:latin typeface="Lato"/>
                        </a:rPr>
                        <a:t>NFC cards plus inventory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Digital payouts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No volunteer dispatch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Manual chat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Lato"/>
                        </a:rPr>
                        <a:t>Priority Triage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766E"/>
                          </a:solidFill>
                          <a:latin typeface="Lato"/>
                        </a:rPr>
                        <a:t>Arabic NLP auto-scoring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Institutional 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Macro funding pools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By post date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Lato"/>
                        </a:rPr>
                        <a:t>Spatial Coverage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766E"/>
                          </a:solidFill>
                          <a:latin typeface="Lato"/>
                        </a:rPr>
                        <a:t>Interactive GIS heatmaps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Region-level filtering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Country-level 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Manual text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3: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Benchmarking Athar Against Alternatives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7937"/>
            <a:ext cx="3282999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4574" y="2547937"/>
            <a:ext cx="3282999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99549" y="2547937"/>
            <a:ext cx="3282999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24312"/>
            <a:ext cx="328925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60825" y="4024312"/>
            <a:ext cx="328925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12050" y="4033837"/>
            <a:ext cx="3270200" cy="1190625"/>
          </a:xfrm>
          <a:prstGeom prst="roundRect">
            <a:avLst>
              <a:gd name="adj" fmla="val 9600"/>
            </a:avLst>
          </a:prstGeom>
          <a:solidFill>
            <a:srgbClr val="0F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99" y="3048000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74" y="304800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350" y="4524375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575" y="4524375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4: Project Execution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Six-Phase Incremental Development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786062"/>
            <a:ext cx="3508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Lato"/>
              </a:rPr>
              <a:t>Phase 1 (Project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024187"/>
            <a:ext cx="368385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Lato"/>
              </a:rPr>
              <a:t>Core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309937"/>
            <a:ext cx="3508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Auth plus case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2786062"/>
            <a:ext cx="3508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Phase 2 (New)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2699" y="3024187"/>
            <a:ext cx="368385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Lato"/>
              </a:rPr>
              <a:t>Citizen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2699" y="3309937"/>
            <a:ext cx="3508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ShamCash plus impact reels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7674" y="2786062"/>
            <a:ext cx="3508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Phase 3 (New)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7674" y="3024187"/>
            <a:ext cx="36543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Lato"/>
              </a:rPr>
              <a:t>Field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7674" y="3309937"/>
            <a:ext cx="3508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NFC cards plus warehouses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262437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Lato"/>
              </a:rPr>
              <a:t>Phase 4 (New)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500562"/>
            <a:ext cx="369206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Lato"/>
              </a:rPr>
              <a:t>AI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786312"/>
            <a:ext cx="3516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NLP triage plus fraud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8950" y="4262437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Phase 5 (New)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8950" y="4500562"/>
            <a:ext cx="369206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Lato"/>
              </a:rPr>
              <a:t>Web Command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8950" y="4786312"/>
            <a:ext cx="3516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GIS maps plus impact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650" y="4262437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Lato"/>
              </a:rPr>
              <a:t>Phase 6 (New)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650" y="4500562"/>
            <a:ext cx="365134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Lato"/>
              </a:rPr>
              <a:t>Quality Assurance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650" y="4786312"/>
            <a:ext cx="3516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Lato"/>
              </a:rPr>
              <a:t>End-to-end automated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8887"/>
            <a:ext cx="5314950" cy="2686050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528887"/>
            <a:ext cx="5314950" cy="2686050"/>
          </a:xfrm>
          <a:prstGeom prst="roundRect">
            <a:avLst>
              <a:gd name="adj" fmla="val 5673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New Project 2 Modifications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Field Automation &amp; Citizen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805112"/>
            <a:ext cx="615076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926"/>
                </a:solidFill>
                <a:latin typeface="Lato"/>
              </a:rPr>
              <a:t>Field &amp; Warehouse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805112"/>
            <a:ext cx="56102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766E"/>
                </a:solidFill>
                <a:latin typeface="Lato"/>
              </a:rPr>
              <a:t>Citizen &amp; Donor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71837"/>
            <a:ext cx="61507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Lato"/>
              </a:rPr>
              <a:t>Smart NFC Beneficiary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29012"/>
            <a:ext cx="585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Instant field scanning prevents duplicate aid claims.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71912"/>
            <a:ext cx="61507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Lato"/>
              </a:rPr>
              <a:t>Warehouse Inventory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29087"/>
            <a:ext cx="585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Real-time stock monitoring across relief campaigns.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471987"/>
            <a:ext cx="61507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Lato"/>
              </a:rPr>
              <a:t>Digital Volunteer Passport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729162"/>
            <a:ext cx="5857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Verified service hours with SHA-256 certificates.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271837"/>
            <a:ext cx="56102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D97706"/>
                </a:solidFill>
                <a:latin typeface="Lato"/>
              </a:rPr>
              <a:t>ShamCash Donation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529012"/>
            <a:ext cx="56102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Seamless local financial contributions per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871912"/>
            <a:ext cx="56102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D97706"/>
                </a:solidFill>
                <a:latin typeface="Lato"/>
              </a:rPr>
              <a:t>Aid Request Wizard &amp;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129087"/>
            <a:ext cx="56102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Guided aid submission with live status updates.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4471987"/>
            <a:ext cx="56102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D97706"/>
                </a:solidFill>
                <a:latin typeface="Lato"/>
              </a:rPr>
              <a:t>Field Impact Stories 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729162"/>
            <a:ext cx="56102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Short vertical videos documenting delivered aid.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00575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0F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14600"/>
            <a:ext cx="2571750" cy="1819275"/>
          </a:xfrm>
          <a:prstGeom prst="roundRect">
            <a:avLst>
              <a:gd name="adj" fmla="val 7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2514600"/>
            <a:ext cx="2571750" cy="1819275"/>
          </a:xfrm>
          <a:prstGeom prst="roundRect">
            <a:avLst>
              <a:gd name="adj" fmla="val 7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514600"/>
            <a:ext cx="2571750" cy="1819275"/>
          </a:xfrm>
          <a:prstGeom prst="roundRect">
            <a:avLst>
              <a:gd name="adj" fmla="val 7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2514600"/>
            <a:ext cx="2571750" cy="1819275"/>
          </a:xfrm>
          <a:prstGeom prst="roundRect">
            <a:avLst>
              <a:gd name="adj" fmla="val 73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5" y="4810125"/>
            <a:ext cx="2762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2892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282892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828925"/>
            <a:ext cx="3429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775" y="2828925"/>
            <a:ext cx="3429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Lato"/>
              </a:rPr>
              <a:t>New Project 2 Modifications —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Embedded Backend AI Intelligence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19650"/>
            <a:ext cx="7750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Lato"/>
              </a:rPr>
              <a:t>Smart Matchmaker: Automated volunteer assignment based on field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26707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Arabic NLP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00450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Automated urgency scoring for cases.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075" y="326707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Image Fingerprinting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600450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Perceptual hashing blocks duplicate photos.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26707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Document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600450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Automated verification of official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267075"/>
            <a:ext cx="275034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Lato"/>
              </a:rPr>
              <a:t>Shelter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600450"/>
            <a:ext cx="2190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Visual structural damage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39800"/>
            <a:ext cx="10972800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51026"/>
            <a:ext cx="10972800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162252"/>
            <a:ext cx="10972800" cy="1238250"/>
          </a:xfrm>
          <a:prstGeom prst="roundRect">
            <a:avLst>
              <a:gd name="adj" fmla="val 10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77925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689151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5400377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5: Tools &amp; Technologies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System Architecture &amp;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2082700"/>
            <a:ext cx="756344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766E"/>
                </a:solidFill>
                <a:latin typeface="Lato"/>
              </a:rPr>
              <a:t>Flutter Mobile Application (Clean Architecture + BLoC)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2416075"/>
            <a:ext cx="7203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Lato"/>
              </a:rPr>
              <a:t>Modular domain layers featuring NFC scanning plus 3D card simulation.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2625" y="3793926"/>
            <a:ext cx="79134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26"/>
                </a:solidFill>
                <a:latin typeface="Lato"/>
              </a:rPr>
              <a:t>Laravel 12 Backend &amp; Web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4127301"/>
            <a:ext cx="7536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Lato"/>
              </a:rPr>
              <a:t>Secured RESTful APIs powering 14 administrative views plus GIS heatmaps.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2625" y="5505152"/>
            <a:ext cx="827603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7706"/>
                </a:solidFill>
                <a:latin typeface="Lato"/>
              </a:rPr>
              <a:t>PostgreSQL Database &amp; Automated Testing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2625" y="5838527"/>
            <a:ext cx="7881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Lato"/>
              </a:rPr>
              <a:t>Relational spatial storage verified via 29 automated PHPUnit plus Flutter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Lato"/>
              </a:rPr>
              <a:t>Part 6: Project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Lato"/>
              </a:rPr>
              <a:t>Gantt Chart &amp; Team Task Allocation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457700"/>
            <a:ext cx="609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828800"/>
            <a:ext cx="6858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2343" y="2667000"/>
            <a:ext cx="5167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59E0B"/>
                </a:solidFill>
                <a:latin typeface="Lato"/>
              </a:rPr>
              <a:t>Syrian Private University — Graduation 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4283" y="3009900"/>
            <a:ext cx="7463432" cy="638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Lato"/>
              </a:rPr>
              <a:t>Thank You for Listening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8531" y="3838575"/>
            <a:ext cx="5214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CBD5E1"/>
                </a:solidFill>
                <a:latin typeface="Lato"/>
              </a:rPr>
              <a:t>We welcome your questions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7531" y="4800600"/>
            <a:ext cx="5976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DD4BF"/>
                </a:solidFill>
                <a:latin typeface="Lato"/>
              </a:rPr>
              <a:t>Khalil Tarek Al-Hanafi &amp; Ibrahim Mohammad Wasim Lotfi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597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Lotfi</cp:lastModifiedBy>
  <cp:revision>3</cp:revision>
  <dcterms:created xsi:type="dcterms:W3CDTF">2013-01-27T09:14:16Z</dcterms:created>
  <dcterms:modified xsi:type="dcterms:W3CDTF">2026-10-30T19:59:44Z</dcterms:modified>
  <cp:category/>
</cp:coreProperties>
</file>